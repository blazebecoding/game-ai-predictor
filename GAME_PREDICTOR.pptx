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DM Sans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6783631" y="-2131970"/>
            <a:ext cx="12950336" cy="14550940"/>
          </a:xfrm>
          <a:custGeom>
            <a:avLst/>
            <a:gdLst/>
            <a:ahLst/>
            <a:cxnLst/>
            <a:rect r="r" b="b" t="t" l="l"/>
            <a:pathLst>
              <a:path h="14550940" w="12950336">
                <a:moveTo>
                  <a:pt x="0" y="0"/>
                </a:moveTo>
                <a:lnTo>
                  <a:pt x="12950336" y="0"/>
                </a:lnTo>
                <a:lnTo>
                  <a:pt x="12950336" y="14550940"/>
                </a:lnTo>
                <a:lnTo>
                  <a:pt x="0" y="14550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7304" y="7677972"/>
            <a:ext cx="1274393" cy="1014880"/>
          </a:xfrm>
          <a:custGeom>
            <a:avLst/>
            <a:gdLst/>
            <a:ahLst/>
            <a:cxnLst/>
            <a:rect r="r" b="b" t="t" l="l"/>
            <a:pathLst>
              <a:path h="1014880" w="1274393">
                <a:moveTo>
                  <a:pt x="0" y="0"/>
                </a:moveTo>
                <a:lnTo>
                  <a:pt x="1274393" y="0"/>
                </a:lnTo>
                <a:lnTo>
                  <a:pt x="1274393" y="1014880"/>
                </a:lnTo>
                <a:lnTo>
                  <a:pt x="0" y="101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7304" y="1922183"/>
            <a:ext cx="11871700" cy="33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60"/>
              </a:lnSpc>
            </a:pPr>
            <a:r>
              <a:rPr lang="en-US" sz="1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Game Outcome Predictor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5110" y="8030673"/>
            <a:ext cx="5818890" cy="66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6"/>
              </a:lnSpc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KUSHAGRA SHARMA - 23030124190</a:t>
            </a:r>
          </a:p>
          <a:p>
            <a:pPr algn="just">
              <a:lnSpc>
                <a:spcPts val="2616"/>
              </a:lnSpc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UDAY PRAVEEN - 23030124196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304" y="5918188"/>
            <a:ext cx="9635059" cy="111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7"/>
              </a:lnSpc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Machine Learning-Based Match Winner Prediction System</a:t>
            </a:r>
          </a:p>
          <a:p>
            <a:pPr algn="just">
              <a:lnSpc>
                <a:spcPts val="2987"/>
              </a:lnSpc>
            </a:pPr>
          </a:p>
          <a:p>
            <a:pPr algn="just">
              <a:lnSpc>
                <a:spcPts val="2987"/>
              </a:lnSpc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End-to-End ML Pipeline with CI/CD Automation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6726106" y="-2131970"/>
            <a:ext cx="12950336" cy="14550940"/>
          </a:xfrm>
          <a:custGeom>
            <a:avLst/>
            <a:gdLst/>
            <a:ahLst/>
            <a:cxnLst/>
            <a:rect r="r" b="b" t="t" l="l"/>
            <a:pathLst>
              <a:path h="14550940" w="12950336">
                <a:moveTo>
                  <a:pt x="0" y="0"/>
                </a:moveTo>
                <a:lnTo>
                  <a:pt x="12950337" y="0"/>
                </a:lnTo>
                <a:lnTo>
                  <a:pt x="12950337" y="14550940"/>
                </a:lnTo>
                <a:lnTo>
                  <a:pt x="0" y="14550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3957" y="3439882"/>
            <a:ext cx="8600240" cy="3862290"/>
          </a:xfrm>
          <a:custGeom>
            <a:avLst/>
            <a:gdLst/>
            <a:ahLst/>
            <a:cxnLst/>
            <a:rect r="r" b="b" t="t" l="l"/>
            <a:pathLst>
              <a:path h="3862290" w="8600240">
                <a:moveTo>
                  <a:pt x="0" y="0"/>
                </a:moveTo>
                <a:lnTo>
                  <a:pt x="8600240" y="0"/>
                </a:lnTo>
                <a:lnTo>
                  <a:pt x="8600240" y="3862289"/>
                </a:lnTo>
                <a:lnTo>
                  <a:pt x="0" y="386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8010" y="1238250"/>
            <a:ext cx="9774686" cy="100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60"/>
              </a:lnSpc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8726" y="2944437"/>
            <a:ext cx="8205274" cy="487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selected game for analysis is </a:t>
            </a:r>
            <a:r>
              <a:rPr lang="en-US" sz="2400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League of Legends</a:t>
            </a:r>
          </a:p>
          <a:p>
            <a:pPr algn="l">
              <a:lnSpc>
                <a:spcPts val="2616"/>
              </a:lnSpc>
            </a:pPr>
          </a:p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Predict match </a:t>
            </a: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outcome at 10-minute mark using early-game statistics</a:t>
            </a:r>
          </a:p>
          <a:p>
            <a:pPr algn="l">
              <a:lnSpc>
                <a:spcPts val="2616"/>
              </a:lnSpc>
            </a:pPr>
          </a:p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Formulate as a supervised binary classification problem</a:t>
            </a:r>
          </a:p>
          <a:p>
            <a:pPr algn="l">
              <a:lnSpc>
                <a:spcPts val="2616"/>
              </a:lnSpc>
            </a:pPr>
          </a:p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Identify key performance indicators influencing win probability</a:t>
            </a:r>
          </a:p>
          <a:p>
            <a:pPr algn="l">
              <a:lnSpc>
                <a:spcPts val="2616"/>
              </a:lnSpc>
            </a:pPr>
          </a:p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Build automated ML pipeline with deployment capability</a:t>
            </a:r>
          </a:p>
          <a:p>
            <a:pPr algn="l">
              <a:lnSpc>
                <a:spcPts val="2616"/>
              </a:lnSpc>
            </a:pPr>
          </a:p>
          <a:p>
            <a:pPr algn="l" marL="518186" indent="-259093" lvl="1">
              <a:lnSpc>
                <a:spcPts val="26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Integrate CI/CD for reproducible training workflow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6726106" y="-2131970"/>
            <a:ext cx="12950336" cy="14550940"/>
          </a:xfrm>
          <a:custGeom>
            <a:avLst/>
            <a:gdLst/>
            <a:ahLst/>
            <a:cxnLst/>
            <a:rect r="r" b="b" t="t" l="l"/>
            <a:pathLst>
              <a:path h="14550940" w="12950336">
                <a:moveTo>
                  <a:pt x="0" y="0"/>
                </a:moveTo>
                <a:lnTo>
                  <a:pt x="12950337" y="0"/>
                </a:lnTo>
                <a:lnTo>
                  <a:pt x="12950337" y="14550940"/>
                </a:lnTo>
                <a:lnTo>
                  <a:pt x="0" y="14550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89182" y="6056243"/>
            <a:ext cx="3480346" cy="531977"/>
            <a:chOff x="0" y="0"/>
            <a:chExt cx="716121" cy="109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6121" cy="109460"/>
            </a:xfrm>
            <a:custGeom>
              <a:avLst/>
              <a:gdLst/>
              <a:ahLst/>
              <a:cxnLst/>
              <a:rect r="r" b="b" t="t" l="l"/>
              <a:pathLst>
                <a:path h="109460" w="716121">
                  <a:moveTo>
                    <a:pt x="43447" y="0"/>
                  </a:moveTo>
                  <a:lnTo>
                    <a:pt x="672674" y="0"/>
                  </a:lnTo>
                  <a:cubicBezTo>
                    <a:pt x="696669" y="0"/>
                    <a:pt x="716121" y="19452"/>
                    <a:pt x="716121" y="43447"/>
                  </a:cubicBezTo>
                  <a:lnTo>
                    <a:pt x="716121" y="66014"/>
                  </a:lnTo>
                  <a:cubicBezTo>
                    <a:pt x="716121" y="90009"/>
                    <a:pt x="696669" y="109460"/>
                    <a:pt x="672674" y="109460"/>
                  </a:cubicBezTo>
                  <a:lnTo>
                    <a:pt x="43447" y="109460"/>
                  </a:lnTo>
                  <a:cubicBezTo>
                    <a:pt x="19452" y="109460"/>
                    <a:pt x="0" y="90009"/>
                    <a:pt x="0" y="66014"/>
                  </a:cubicBezTo>
                  <a:lnTo>
                    <a:pt x="0" y="43447"/>
                  </a:lnTo>
                  <a:cubicBezTo>
                    <a:pt x="0" y="19452"/>
                    <a:pt x="19452" y="0"/>
                    <a:pt x="4344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716121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1067" y="6788245"/>
            <a:ext cx="3502961" cy="531977"/>
            <a:chOff x="0" y="0"/>
            <a:chExt cx="720774" cy="1094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774" cy="109460"/>
            </a:xfrm>
            <a:custGeom>
              <a:avLst/>
              <a:gdLst/>
              <a:ahLst/>
              <a:cxnLst/>
              <a:rect r="r" b="b" t="t" l="l"/>
              <a:pathLst>
                <a:path h="109460" w="720774">
                  <a:moveTo>
                    <a:pt x="43166" y="0"/>
                  </a:moveTo>
                  <a:lnTo>
                    <a:pt x="677608" y="0"/>
                  </a:lnTo>
                  <a:cubicBezTo>
                    <a:pt x="701448" y="0"/>
                    <a:pt x="720774" y="19326"/>
                    <a:pt x="720774" y="43166"/>
                  </a:cubicBezTo>
                  <a:lnTo>
                    <a:pt x="720774" y="66294"/>
                  </a:lnTo>
                  <a:cubicBezTo>
                    <a:pt x="720774" y="90134"/>
                    <a:pt x="701448" y="109460"/>
                    <a:pt x="677608" y="109460"/>
                  </a:cubicBezTo>
                  <a:lnTo>
                    <a:pt x="43166" y="109460"/>
                  </a:lnTo>
                  <a:cubicBezTo>
                    <a:pt x="19326" y="109460"/>
                    <a:pt x="0" y="90134"/>
                    <a:pt x="0" y="66294"/>
                  </a:cubicBezTo>
                  <a:lnTo>
                    <a:pt x="0" y="43166"/>
                  </a:lnTo>
                  <a:cubicBezTo>
                    <a:pt x="0" y="19326"/>
                    <a:pt x="19326" y="0"/>
                    <a:pt x="43166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720774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2349" y="2435774"/>
            <a:ext cx="2170458" cy="580767"/>
            <a:chOff x="0" y="0"/>
            <a:chExt cx="812800" cy="2174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17487"/>
            </a:xfrm>
            <a:custGeom>
              <a:avLst/>
              <a:gdLst/>
              <a:ahLst/>
              <a:cxnLst/>
              <a:rect r="r" b="b" t="t" l="l"/>
              <a:pathLst>
                <a:path h="217487" w="812800">
                  <a:moveTo>
                    <a:pt x="609600" y="0"/>
                  </a:moveTo>
                  <a:cubicBezTo>
                    <a:pt x="721824" y="0"/>
                    <a:pt x="812800" y="48686"/>
                    <a:pt x="812800" y="108744"/>
                  </a:cubicBezTo>
                  <a:cubicBezTo>
                    <a:pt x="812800" y="168801"/>
                    <a:pt x="721824" y="217487"/>
                    <a:pt x="609600" y="217487"/>
                  </a:cubicBezTo>
                  <a:lnTo>
                    <a:pt x="203200" y="217487"/>
                  </a:lnTo>
                  <a:cubicBezTo>
                    <a:pt x="90976" y="217487"/>
                    <a:pt x="0" y="168801"/>
                    <a:pt x="0" y="108744"/>
                  </a:cubicBezTo>
                  <a:cubicBezTo>
                    <a:pt x="0" y="4868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812800" cy="198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1703116" y="3394223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2667578" y="4126202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3752807" y="4858228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V="true">
            <a:off x="4773472" y="5590230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5703744" y="6322232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6538245" y="7054234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7558909" y="7786236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8513738" y="8518238"/>
            <a:ext cx="27061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4488553" y="3128235"/>
            <a:ext cx="3867029" cy="531977"/>
            <a:chOff x="0" y="0"/>
            <a:chExt cx="795685" cy="1094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5685" cy="109460"/>
            </a:xfrm>
            <a:custGeom>
              <a:avLst/>
              <a:gdLst/>
              <a:ahLst/>
              <a:cxnLst/>
              <a:rect r="r" b="b" t="t" l="l"/>
              <a:pathLst>
                <a:path h="109460" w="795685">
                  <a:moveTo>
                    <a:pt x="39102" y="0"/>
                  </a:moveTo>
                  <a:lnTo>
                    <a:pt x="756583" y="0"/>
                  </a:lnTo>
                  <a:cubicBezTo>
                    <a:pt x="766953" y="0"/>
                    <a:pt x="776899" y="4120"/>
                    <a:pt x="784232" y="11453"/>
                  </a:cubicBezTo>
                  <a:cubicBezTo>
                    <a:pt x="791565" y="18786"/>
                    <a:pt x="795685" y="28732"/>
                    <a:pt x="795685" y="39102"/>
                  </a:cubicBezTo>
                  <a:lnTo>
                    <a:pt x="795685" y="70358"/>
                  </a:lnTo>
                  <a:cubicBezTo>
                    <a:pt x="795685" y="80729"/>
                    <a:pt x="791565" y="90674"/>
                    <a:pt x="784232" y="98008"/>
                  </a:cubicBezTo>
                  <a:cubicBezTo>
                    <a:pt x="776899" y="105341"/>
                    <a:pt x="766953" y="109460"/>
                    <a:pt x="756583" y="109460"/>
                  </a:cubicBezTo>
                  <a:lnTo>
                    <a:pt x="39102" y="109460"/>
                  </a:lnTo>
                  <a:cubicBezTo>
                    <a:pt x="28732" y="109460"/>
                    <a:pt x="18786" y="105341"/>
                    <a:pt x="11453" y="98008"/>
                  </a:cubicBezTo>
                  <a:cubicBezTo>
                    <a:pt x="4120" y="90674"/>
                    <a:pt x="0" y="80729"/>
                    <a:pt x="0" y="70358"/>
                  </a:cubicBezTo>
                  <a:lnTo>
                    <a:pt x="0" y="39102"/>
                  </a:lnTo>
                  <a:cubicBezTo>
                    <a:pt x="0" y="28732"/>
                    <a:pt x="4120" y="18786"/>
                    <a:pt x="11453" y="11453"/>
                  </a:cubicBezTo>
                  <a:cubicBezTo>
                    <a:pt x="18786" y="4120"/>
                    <a:pt x="28732" y="0"/>
                    <a:pt x="39102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795685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53016" y="3860237"/>
            <a:ext cx="3746878" cy="531977"/>
            <a:chOff x="0" y="0"/>
            <a:chExt cx="770963" cy="1094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0963" cy="109460"/>
            </a:xfrm>
            <a:custGeom>
              <a:avLst/>
              <a:gdLst/>
              <a:ahLst/>
              <a:cxnLst/>
              <a:rect r="r" b="b" t="t" l="l"/>
              <a:pathLst>
                <a:path h="109460" w="770963">
                  <a:moveTo>
                    <a:pt x="40356" y="0"/>
                  </a:moveTo>
                  <a:lnTo>
                    <a:pt x="730606" y="0"/>
                  </a:lnTo>
                  <a:cubicBezTo>
                    <a:pt x="752894" y="0"/>
                    <a:pt x="770963" y="18068"/>
                    <a:pt x="770963" y="40356"/>
                  </a:cubicBezTo>
                  <a:lnTo>
                    <a:pt x="770963" y="69104"/>
                  </a:lnTo>
                  <a:cubicBezTo>
                    <a:pt x="770963" y="79807"/>
                    <a:pt x="766711" y="90072"/>
                    <a:pt x="759143" y="97640"/>
                  </a:cubicBezTo>
                  <a:cubicBezTo>
                    <a:pt x="751574" y="105209"/>
                    <a:pt x="741310" y="109460"/>
                    <a:pt x="730606" y="109460"/>
                  </a:cubicBezTo>
                  <a:lnTo>
                    <a:pt x="40356" y="109460"/>
                  </a:lnTo>
                  <a:cubicBezTo>
                    <a:pt x="29653" y="109460"/>
                    <a:pt x="19388" y="105209"/>
                    <a:pt x="11820" y="97640"/>
                  </a:cubicBezTo>
                  <a:cubicBezTo>
                    <a:pt x="4252" y="90072"/>
                    <a:pt x="0" y="79807"/>
                    <a:pt x="0" y="69104"/>
                  </a:cubicBezTo>
                  <a:lnTo>
                    <a:pt x="0" y="40356"/>
                  </a:lnTo>
                  <a:cubicBezTo>
                    <a:pt x="0" y="29653"/>
                    <a:pt x="4252" y="19388"/>
                    <a:pt x="11820" y="11820"/>
                  </a:cubicBezTo>
                  <a:cubicBezTo>
                    <a:pt x="19388" y="4252"/>
                    <a:pt x="29653" y="0"/>
                    <a:pt x="40356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770963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38245" y="4592239"/>
            <a:ext cx="3181444" cy="531977"/>
            <a:chOff x="0" y="0"/>
            <a:chExt cx="654618" cy="1094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4618" cy="109460"/>
            </a:xfrm>
            <a:custGeom>
              <a:avLst/>
              <a:gdLst/>
              <a:ahLst/>
              <a:cxnLst/>
              <a:rect r="r" b="b" t="t" l="l"/>
              <a:pathLst>
                <a:path h="109460" w="654618">
                  <a:moveTo>
                    <a:pt x="47529" y="0"/>
                  </a:moveTo>
                  <a:lnTo>
                    <a:pt x="607090" y="0"/>
                  </a:lnTo>
                  <a:cubicBezTo>
                    <a:pt x="633339" y="0"/>
                    <a:pt x="654618" y="21279"/>
                    <a:pt x="654618" y="47529"/>
                  </a:cubicBezTo>
                  <a:lnTo>
                    <a:pt x="654618" y="61932"/>
                  </a:lnTo>
                  <a:cubicBezTo>
                    <a:pt x="654618" y="88181"/>
                    <a:pt x="633339" y="109460"/>
                    <a:pt x="607090" y="109460"/>
                  </a:cubicBezTo>
                  <a:lnTo>
                    <a:pt x="47529" y="109460"/>
                  </a:lnTo>
                  <a:cubicBezTo>
                    <a:pt x="21279" y="109460"/>
                    <a:pt x="0" y="88181"/>
                    <a:pt x="0" y="61932"/>
                  </a:cubicBezTo>
                  <a:lnTo>
                    <a:pt x="0" y="47529"/>
                  </a:lnTo>
                  <a:cubicBezTo>
                    <a:pt x="0" y="21279"/>
                    <a:pt x="21279" y="0"/>
                    <a:pt x="47529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654618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58909" y="5324241"/>
            <a:ext cx="3626912" cy="531977"/>
            <a:chOff x="0" y="0"/>
            <a:chExt cx="746278" cy="1094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6278" cy="109460"/>
            </a:xfrm>
            <a:custGeom>
              <a:avLst/>
              <a:gdLst/>
              <a:ahLst/>
              <a:cxnLst/>
              <a:rect r="r" b="b" t="t" l="l"/>
              <a:pathLst>
                <a:path h="109460" w="746278">
                  <a:moveTo>
                    <a:pt x="41691" y="0"/>
                  </a:moveTo>
                  <a:lnTo>
                    <a:pt x="704587" y="0"/>
                  </a:lnTo>
                  <a:cubicBezTo>
                    <a:pt x="715644" y="0"/>
                    <a:pt x="726249" y="4392"/>
                    <a:pt x="734067" y="12211"/>
                  </a:cubicBezTo>
                  <a:cubicBezTo>
                    <a:pt x="741886" y="20030"/>
                    <a:pt x="746278" y="30634"/>
                    <a:pt x="746278" y="41691"/>
                  </a:cubicBezTo>
                  <a:lnTo>
                    <a:pt x="746278" y="67769"/>
                  </a:lnTo>
                  <a:cubicBezTo>
                    <a:pt x="746278" y="78826"/>
                    <a:pt x="741886" y="89431"/>
                    <a:pt x="734067" y="97249"/>
                  </a:cubicBezTo>
                  <a:cubicBezTo>
                    <a:pt x="726249" y="105068"/>
                    <a:pt x="715644" y="109460"/>
                    <a:pt x="704587" y="109460"/>
                  </a:cubicBezTo>
                  <a:lnTo>
                    <a:pt x="41691" y="109460"/>
                  </a:lnTo>
                  <a:cubicBezTo>
                    <a:pt x="30634" y="109460"/>
                    <a:pt x="20030" y="105068"/>
                    <a:pt x="12211" y="97249"/>
                  </a:cubicBezTo>
                  <a:cubicBezTo>
                    <a:pt x="4392" y="89431"/>
                    <a:pt x="0" y="78826"/>
                    <a:pt x="0" y="67769"/>
                  </a:cubicBezTo>
                  <a:lnTo>
                    <a:pt x="0" y="41691"/>
                  </a:lnTo>
                  <a:cubicBezTo>
                    <a:pt x="0" y="30634"/>
                    <a:pt x="4392" y="20030"/>
                    <a:pt x="12211" y="12211"/>
                  </a:cubicBezTo>
                  <a:cubicBezTo>
                    <a:pt x="20030" y="4392"/>
                    <a:pt x="30634" y="0"/>
                    <a:pt x="41691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746278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344347" y="7520247"/>
            <a:ext cx="4346707" cy="531977"/>
            <a:chOff x="0" y="0"/>
            <a:chExt cx="894384" cy="109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4384" cy="109460"/>
            </a:xfrm>
            <a:custGeom>
              <a:avLst/>
              <a:gdLst/>
              <a:ahLst/>
              <a:cxnLst/>
              <a:rect r="r" b="b" t="t" l="l"/>
              <a:pathLst>
                <a:path h="109460" w="894384">
                  <a:moveTo>
                    <a:pt x="34787" y="0"/>
                  </a:moveTo>
                  <a:lnTo>
                    <a:pt x="859597" y="0"/>
                  </a:lnTo>
                  <a:cubicBezTo>
                    <a:pt x="878810" y="0"/>
                    <a:pt x="894384" y="15575"/>
                    <a:pt x="894384" y="34787"/>
                  </a:cubicBezTo>
                  <a:lnTo>
                    <a:pt x="894384" y="74673"/>
                  </a:lnTo>
                  <a:cubicBezTo>
                    <a:pt x="894384" y="93886"/>
                    <a:pt x="878810" y="109460"/>
                    <a:pt x="859597" y="109460"/>
                  </a:cubicBezTo>
                  <a:lnTo>
                    <a:pt x="34787" y="109460"/>
                  </a:lnTo>
                  <a:cubicBezTo>
                    <a:pt x="15575" y="109460"/>
                    <a:pt x="0" y="93886"/>
                    <a:pt x="0" y="74673"/>
                  </a:cubicBezTo>
                  <a:lnTo>
                    <a:pt x="0" y="34787"/>
                  </a:lnTo>
                  <a:cubicBezTo>
                    <a:pt x="0" y="15575"/>
                    <a:pt x="15575" y="0"/>
                    <a:pt x="3478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894384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99176" y="8252249"/>
            <a:ext cx="5246451" cy="531977"/>
            <a:chOff x="0" y="0"/>
            <a:chExt cx="1079517" cy="1094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9517" cy="109460"/>
            </a:xfrm>
            <a:custGeom>
              <a:avLst/>
              <a:gdLst/>
              <a:ahLst/>
              <a:cxnLst/>
              <a:rect r="r" b="b" t="t" l="l"/>
              <a:pathLst>
                <a:path h="109460" w="1079517">
                  <a:moveTo>
                    <a:pt x="28821" y="0"/>
                  </a:moveTo>
                  <a:lnTo>
                    <a:pt x="1050695" y="0"/>
                  </a:lnTo>
                  <a:cubicBezTo>
                    <a:pt x="1058339" y="0"/>
                    <a:pt x="1065670" y="3037"/>
                    <a:pt x="1071075" y="8442"/>
                  </a:cubicBezTo>
                  <a:cubicBezTo>
                    <a:pt x="1076480" y="13847"/>
                    <a:pt x="1079517" y="21177"/>
                    <a:pt x="1079517" y="28821"/>
                  </a:cubicBezTo>
                  <a:lnTo>
                    <a:pt x="1079517" y="80639"/>
                  </a:lnTo>
                  <a:cubicBezTo>
                    <a:pt x="1079517" y="96557"/>
                    <a:pt x="1066613" y="109460"/>
                    <a:pt x="1050695" y="109460"/>
                  </a:cubicBezTo>
                  <a:lnTo>
                    <a:pt x="28821" y="109460"/>
                  </a:lnTo>
                  <a:cubicBezTo>
                    <a:pt x="12904" y="109460"/>
                    <a:pt x="0" y="96557"/>
                    <a:pt x="0" y="80639"/>
                  </a:cubicBezTo>
                  <a:lnTo>
                    <a:pt x="0" y="28821"/>
                  </a:lnTo>
                  <a:cubicBezTo>
                    <a:pt x="0" y="12904"/>
                    <a:pt x="12904" y="0"/>
                    <a:pt x="28821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079517" cy="9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488553" y="3234584"/>
            <a:ext cx="3685431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📊 EDA &amp; VIS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UALIZATION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53016" y="3966562"/>
            <a:ext cx="3634978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⚙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DATA PREPROCESSING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38245" y="4698588"/>
            <a:ext cx="3054548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🧠 M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ODEL TRAINING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58909" y="5430590"/>
            <a:ext cx="3480346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📈 M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ODEL EVALUATION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13738" y="6160994"/>
            <a:ext cx="3280321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🏆 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SELECTION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23682" y="6892996"/>
            <a:ext cx="3329434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💾 M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ODEL SAVE (.PKL)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44347" y="7626596"/>
            <a:ext cx="4228951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🌐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FLASK WEB DEPLOYMENT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99176" y="8358598"/>
            <a:ext cx="4987826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🔁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CI/CD AUTOMATION (JENKINS)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38077" y="2566518"/>
            <a:ext cx="1867346" cy="3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📄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DATASET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629285"/>
            <a:ext cx="14885417" cy="100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60"/>
              </a:lnSpc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End-to-End Project Workflow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01300"/>
            <a:ext cx="8379200" cy="6284400"/>
          </a:xfrm>
          <a:custGeom>
            <a:avLst/>
            <a:gdLst/>
            <a:ahLst/>
            <a:cxnLst/>
            <a:rect r="r" b="b" t="t" l="l"/>
            <a:pathLst>
              <a:path h="6284400" w="8379200">
                <a:moveTo>
                  <a:pt x="0" y="0"/>
                </a:moveTo>
                <a:lnTo>
                  <a:pt x="8379200" y="0"/>
                </a:lnTo>
                <a:lnTo>
                  <a:pt x="8379200" y="6284400"/>
                </a:lnTo>
                <a:lnTo>
                  <a:pt x="0" y="628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5777"/>
            <a:ext cx="14158978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Match Outcome Distribution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96037" y="3303145"/>
            <a:ext cx="7149551" cy="371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 is approximately balanced between wins and losses </a:t>
            </a:r>
          </a:p>
          <a:p>
            <a:pPr algn="l" marL="597254" indent="-298627" lvl="1">
              <a:lnSpc>
                <a:spcPts val="2987"/>
              </a:lnSpc>
              <a:buFont typeface="Arial"/>
              <a:buChar char="•"/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 → ~4950</a:t>
            </a:r>
          </a:p>
          <a:p>
            <a:pPr algn="l" marL="597254" indent="-298627" lvl="1">
              <a:lnSpc>
                <a:spcPts val="2987"/>
              </a:lnSpc>
              <a:buFont typeface="Arial"/>
              <a:buChar char="•"/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1 → ~4900</a:t>
            </a:r>
          </a:p>
          <a:p>
            <a:pPr algn="l">
              <a:lnSpc>
                <a:spcPts val="2987"/>
              </a:lnSpc>
            </a:pPr>
          </a:p>
          <a:p>
            <a:pPr algn="l">
              <a:lnSpc>
                <a:spcPts val="2987"/>
              </a:lnSpc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need for class balancing techniques such as:</a:t>
            </a:r>
          </a:p>
          <a:p>
            <a:pPr algn="l" marL="597254" indent="-298627" lvl="1">
              <a:lnSpc>
                <a:spcPts val="2987"/>
              </a:lnSpc>
              <a:buFont typeface="Arial"/>
              <a:buChar char="•"/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SMOTE </a:t>
            </a:r>
          </a:p>
          <a:p>
            <a:pPr algn="l" marL="597254" indent="-298627" lvl="1">
              <a:lnSpc>
                <a:spcPts val="2987"/>
              </a:lnSpc>
              <a:buFont typeface="Arial"/>
              <a:buChar char="•"/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Class Weights </a:t>
            </a:r>
          </a:p>
          <a:p>
            <a:pPr algn="l" marL="597254" indent="-298627" lvl="1">
              <a:lnSpc>
                <a:spcPts val="2987"/>
              </a:lnSpc>
              <a:buFont typeface="Arial"/>
              <a:buChar char="•"/>
            </a:pPr>
            <a:r>
              <a:rPr lang="en-US" sz="27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Resampling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37348"/>
            <a:ext cx="11324353" cy="8505482"/>
          </a:xfrm>
          <a:custGeom>
            <a:avLst/>
            <a:gdLst/>
            <a:ahLst/>
            <a:cxnLst/>
            <a:rect r="r" b="b" t="t" l="l"/>
            <a:pathLst>
              <a:path h="8505482" w="11324353">
                <a:moveTo>
                  <a:pt x="0" y="0"/>
                </a:moveTo>
                <a:lnTo>
                  <a:pt x="11324353" y="0"/>
                </a:lnTo>
                <a:lnTo>
                  <a:pt x="11324353" y="8505482"/>
                </a:lnTo>
                <a:lnTo>
                  <a:pt x="0" y="850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988" r="-1363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5777"/>
            <a:ext cx="14158978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Correlation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52608" y="3819525"/>
            <a:ext cx="4658433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Gold difference and experience difference show strong correlation with win outcome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Objective control metrics significantly influence match results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14746"/>
            <a:ext cx="9658072" cy="7243554"/>
          </a:xfrm>
          <a:custGeom>
            <a:avLst/>
            <a:gdLst/>
            <a:ahLst/>
            <a:cxnLst/>
            <a:rect r="r" b="b" t="t" l="l"/>
            <a:pathLst>
              <a:path h="7243554" w="9658072">
                <a:moveTo>
                  <a:pt x="0" y="0"/>
                </a:moveTo>
                <a:lnTo>
                  <a:pt x="9658072" y="0"/>
                </a:lnTo>
                <a:lnTo>
                  <a:pt x="9658072" y="7243554"/>
                </a:lnTo>
                <a:lnTo>
                  <a:pt x="0" y="7243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5777"/>
            <a:ext cx="174810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7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Gold Difference vs Match Outcome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09229" y="3610403"/>
            <a:ext cx="5550071" cy="40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Winning teams show consistently positive gold difference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Losing teams show predominantly negative gold difference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Clear distribution separation confirms strong predictive power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08384"/>
            <a:ext cx="9666554" cy="7249916"/>
          </a:xfrm>
          <a:custGeom>
            <a:avLst/>
            <a:gdLst/>
            <a:ahLst/>
            <a:cxnLst/>
            <a:rect r="r" b="b" t="t" l="l"/>
            <a:pathLst>
              <a:path h="7249916" w="9666554">
                <a:moveTo>
                  <a:pt x="0" y="0"/>
                </a:moveTo>
                <a:lnTo>
                  <a:pt x="9666554" y="0"/>
                </a:lnTo>
                <a:lnTo>
                  <a:pt x="9666554" y="7249916"/>
                </a:lnTo>
                <a:lnTo>
                  <a:pt x="0" y="7249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6252"/>
            <a:ext cx="17259300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Exp Difference vs Match Outcome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09229" y="3534436"/>
            <a:ext cx="5550071" cy="334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Positive experience difference strongly associated with wins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Clear distribution separation between classes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Early-game experience advantage impacts match momentum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21649"/>
            <a:ext cx="9648868" cy="7236651"/>
          </a:xfrm>
          <a:custGeom>
            <a:avLst/>
            <a:gdLst/>
            <a:ahLst/>
            <a:cxnLst/>
            <a:rect r="r" b="b" t="t" l="l"/>
            <a:pathLst>
              <a:path h="7236651" w="9648868">
                <a:moveTo>
                  <a:pt x="0" y="0"/>
                </a:moveTo>
                <a:lnTo>
                  <a:pt x="9648868" y="0"/>
                </a:lnTo>
                <a:lnTo>
                  <a:pt x="9648868" y="7236651"/>
                </a:lnTo>
                <a:lnTo>
                  <a:pt x="0" y="7236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5302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Kill Difference vs Match Outcome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09229" y="3534436"/>
            <a:ext cx="5550071" cy="40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Positive kill difference associated with higher win probability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Separation present but less pronounced than gold/experience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Combat advantage contributes but is not sole determinant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7420" y="1553527"/>
            <a:ext cx="5156580" cy="7704773"/>
          </a:xfrm>
          <a:custGeom>
            <a:avLst/>
            <a:gdLst/>
            <a:ahLst/>
            <a:cxnLst/>
            <a:rect r="r" b="b" t="t" l="l"/>
            <a:pathLst>
              <a:path h="7704773" w="5156580">
                <a:moveTo>
                  <a:pt x="0" y="0"/>
                </a:moveTo>
                <a:lnTo>
                  <a:pt x="5156580" y="0"/>
                </a:lnTo>
                <a:lnTo>
                  <a:pt x="5156580" y="7704773"/>
                </a:lnTo>
                <a:lnTo>
                  <a:pt x="0" y="7704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5302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Training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8017" y="3488855"/>
            <a:ext cx="5550071" cy="334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 split into training and testing sets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Logistic Regression, Random Forest and XGBoost models trained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 model selected based on evaluation accuracy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77308"/>
            <a:ext cx="7696640" cy="5532383"/>
          </a:xfrm>
          <a:custGeom>
            <a:avLst/>
            <a:gdLst/>
            <a:ahLst/>
            <a:cxnLst/>
            <a:rect r="r" b="b" t="t" l="l"/>
            <a:pathLst>
              <a:path h="5532383" w="7696640">
                <a:moveTo>
                  <a:pt x="0" y="0"/>
                </a:moveTo>
                <a:lnTo>
                  <a:pt x="7696640" y="0"/>
                </a:lnTo>
                <a:lnTo>
                  <a:pt x="7696640" y="5532384"/>
                </a:lnTo>
                <a:lnTo>
                  <a:pt x="0" y="553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5302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Comparison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4618" y="3061890"/>
            <a:ext cx="7534682" cy="353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Multiple models trained automatically using Jenkins pipeline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Logistic Regression Accuracy: 73.28%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Random Forest Accuracy: 72.17%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XGBoost Accuracy: 70.00%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 Regression selected as final model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00262"/>
            <a:ext cx="8115300" cy="6086475"/>
          </a:xfrm>
          <a:custGeom>
            <a:avLst/>
            <a:gdLst/>
            <a:ahLst/>
            <a:cxnLst/>
            <a:rect r="r" b="b" t="t" l="l"/>
            <a:pathLst>
              <a:path h="6086475" w="8115300">
                <a:moveTo>
                  <a:pt x="0" y="0"/>
                </a:moveTo>
                <a:lnTo>
                  <a:pt x="8115300" y="0"/>
                </a:lnTo>
                <a:lnTo>
                  <a:pt x="8115300" y="6086476"/>
                </a:lnTo>
                <a:lnTo>
                  <a:pt x="0" y="608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Evaluation – Confusion Matrix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4618" y="2322805"/>
            <a:ext cx="7534682" cy="567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76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Performance Analysis</a:t>
            </a:r>
          </a:p>
          <a:p>
            <a:pPr algn="l">
              <a:lnSpc>
                <a:spcPts val="2991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Logistic Regression evaluated on test dataset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 Predictions:</a:t>
            </a: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True Negatives: 720</a:t>
            </a: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True Positives: 728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ncorrect Predictions:</a:t>
            </a: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False Positives: 263</a:t>
            </a: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False Negatives: 265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Overall Accuracy: 73.3%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cts 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both c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asses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</a:p>
          <a:p>
            <a:pPr algn="l">
              <a:lnSpc>
                <a:spcPts val="277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7162">
            <a:off x="-2971560" y="-3968463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5" y="0"/>
                </a:lnTo>
                <a:lnTo>
                  <a:pt x="12463165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46114"/>
            <a:ext cx="9991286" cy="5994771"/>
          </a:xfrm>
          <a:custGeom>
            <a:avLst/>
            <a:gdLst/>
            <a:ahLst/>
            <a:cxnLst/>
            <a:rect r="r" b="b" t="t" l="l"/>
            <a:pathLst>
              <a:path h="5994771" w="9991286">
                <a:moveTo>
                  <a:pt x="0" y="0"/>
                </a:moveTo>
                <a:lnTo>
                  <a:pt x="9991286" y="0"/>
                </a:lnTo>
                <a:lnTo>
                  <a:pt x="9991286" y="5994772"/>
                </a:lnTo>
                <a:lnTo>
                  <a:pt x="0" y="5994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Importance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46366" y="2174689"/>
            <a:ext cx="6329991" cy="667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Most Influen</a:t>
            </a: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tial Features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Gold Difference is among the strongest predictors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Experience Difference significantly impacts outcome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Gold Per Minute contributes to prediction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Gold and Experience are important indicators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Objective metrics also influence predictions</a:t>
            </a:r>
          </a:p>
          <a:p>
            <a:pPr algn="l">
              <a:lnSpc>
                <a:spcPts val="2775"/>
              </a:lnSpc>
            </a:pPr>
          </a:p>
          <a:p>
            <a:pPr algn="l">
              <a:lnSpc>
                <a:spcPts val="2775"/>
              </a:lnSpc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decisions align with EDA findings</a:t>
            </a:r>
          </a:p>
          <a:p>
            <a:pPr algn="l">
              <a:lnSpc>
                <a:spcPts val="25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76150">
            <a:off x="8420128" y="-6101311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4" y="0"/>
                </a:lnTo>
                <a:lnTo>
                  <a:pt x="12463164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523046"/>
            <a:ext cx="696480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Input Features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Gold Difference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Experience Difference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Kill Difference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Dragons Taken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Towers Destroyed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7180521"/>
            <a:ext cx="696480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Predicted Winner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Confidence Score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Used</a:t>
            </a: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299190" y="4715502"/>
            <a:ext cx="4402553" cy="1929664"/>
          </a:xfrm>
          <a:custGeom>
            <a:avLst/>
            <a:gdLst/>
            <a:ahLst/>
            <a:cxnLst/>
            <a:rect r="r" b="b" t="t" l="l"/>
            <a:pathLst>
              <a:path h="1929664" w="4402553">
                <a:moveTo>
                  <a:pt x="0" y="0"/>
                </a:moveTo>
                <a:lnTo>
                  <a:pt x="4402554" y="0"/>
                </a:lnTo>
                <a:lnTo>
                  <a:pt x="4402554" y="1929664"/>
                </a:lnTo>
                <a:lnTo>
                  <a:pt x="0" y="1929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99190" y="7196786"/>
            <a:ext cx="4402553" cy="1948671"/>
          </a:xfrm>
          <a:custGeom>
            <a:avLst/>
            <a:gdLst/>
            <a:ahLst/>
            <a:cxnLst/>
            <a:rect r="r" b="b" t="t" l="l"/>
            <a:pathLst>
              <a:path h="1948671" w="4402553">
                <a:moveTo>
                  <a:pt x="0" y="0"/>
                </a:moveTo>
                <a:lnTo>
                  <a:pt x="4402554" y="0"/>
                </a:lnTo>
                <a:lnTo>
                  <a:pt x="4402554" y="1948671"/>
                </a:lnTo>
                <a:lnTo>
                  <a:pt x="0" y="1948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595437"/>
            <a:ext cx="6598847" cy="7662863"/>
          </a:xfrm>
          <a:custGeom>
            <a:avLst/>
            <a:gdLst/>
            <a:ahLst/>
            <a:cxnLst/>
            <a:rect r="r" b="b" t="t" l="l"/>
            <a:pathLst>
              <a:path h="7662863" w="6598847">
                <a:moveTo>
                  <a:pt x="0" y="0"/>
                </a:moveTo>
                <a:lnTo>
                  <a:pt x="6598847" y="0"/>
                </a:lnTo>
                <a:lnTo>
                  <a:pt x="6598847" y="7662863"/>
                </a:lnTo>
                <a:lnTo>
                  <a:pt x="0" y="7662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Web Application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975757"/>
            <a:ext cx="6964800" cy="223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76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P</a:t>
            </a:r>
            <a:r>
              <a:rPr lang="en-US" sz="276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rediction Interface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Web interface built using Flask</a:t>
            </a: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Users input early-game statistics</a:t>
            </a: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predicts m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atch winner</a:t>
            </a: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Real-time prediction r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esults displayed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76150">
            <a:off x="8420128" y="-6101311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4" y="0"/>
                </a:lnTo>
                <a:lnTo>
                  <a:pt x="12463164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34138"/>
            <a:ext cx="16230600" cy="3063526"/>
          </a:xfrm>
          <a:custGeom>
            <a:avLst/>
            <a:gdLst/>
            <a:ahLst/>
            <a:cxnLst/>
            <a:rect r="r" b="b" t="t" l="l"/>
            <a:pathLst>
              <a:path h="3063526" w="16230600">
                <a:moveTo>
                  <a:pt x="0" y="0"/>
                </a:moveTo>
                <a:lnTo>
                  <a:pt x="16230600" y="0"/>
                </a:lnTo>
                <a:lnTo>
                  <a:pt x="16230600" y="3063526"/>
                </a:lnTo>
                <a:lnTo>
                  <a:pt x="0" y="3063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8221" y="5340564"/>
            <a:ext cx="4663489" cy="2044034"/>
          </a:xfrm>
          <a:custGeom>
            <a:avLst/>
            <a:gdLst/>
            <a:ahLst/>
            <a:cxnLst/>
            <a:rect r="r" b="b" t="t" l="l"/>
            <a:pathLst>
              <a:path h="2044034" w="4663489">
                <a:moveTo>
                  <a:pt x="0" y="0"/>
                </a:moveTo>
                <a:lnTo>
                  <a:pt x="4663489" y="0"/>
                </a:lnTo>
                <a:lnTo>
                  <a:pt x="4663489" y="2044034"/>
                </a:lnTo>
                <a:lnTo>
                  <a:pt x="0" y="2044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8221" y="7535139"/>
            <a:ext cx="4663489" cy="2064167"/>
          </a:xfrm>
          <a:custGeom>
            <a:avLst/>
            <a:gdLst/>
            <a:ahLst/>
            <a:cxnLst/>
            <a:rect r="r" b="b" t="t" l="l"/>
            <a:pathLst>
              <a:path h="2064167" w="4663489">
                <a:moveTo>
                  <a:pt x="0" y="0"/>
                </a:moveTo>
                <a:lnTo>
                  <a:pt x="4663489" y="0"/>
                </a:lnTo>
                <a:lnTo>
                  <a:pt x="4663489" y="2064167"/>
                </a:lnTo>
                <a:lnTo>
                  <a:pt x="0" y="2064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Web Application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78664"/>
            <a:ext cx="8115300" cy="422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rediction Workflow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 enters early-game match statistics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Input data sent to Flask prediction server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Features scaled using saved scaler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Trained ML model generates prediction</a:t>
            </a:r>
          </a:p>
          <a:p>
            <a:pPr algn="l">
              <a:lnSpc>
                <a:spcPts val="2775"/>
              </a:lnSpc>
            </a:pPr>
          </a:p>
          <a:p>
            <a:pPr algn="l" marL="554864" indent="-277432" lvl="1">
              <a:lnSpc>
                <a:spcPts val="2775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 returned to web interface</a:t>
            </a:r>
          </a:p>
          <a:p>
            <a:pPr algn="l">
              <a:lnSpc>
                <a:spcPts val="25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76150">
            <a:off x="8420128" y="-6101311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4" y="0"/>
                </a:lnTo>
                <a:lnTo>
                  <a:pt x="12463164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11974" y="1595437"/>
            <a:ext cx="2348903" cy="7937078"/>
          </a:xfrm>
          <a:custGeom>
            <a:avLst/>
            <a:gdLst/>
            <a:ahLst/>
            <a:cxnLst/>
            <a:rect r="r" b="b" t="t" l="l"/>
            <a:pathLst>
              <a:path h="7937078" w="2348903">
                <a:moveTo>
                  <a:pt x="0" y="0"/>
                </a:moveTo>
                <a:lnTo>
                  <a:pt x="2348903" y="0"/>
                </a:lnTo>
                <a:lnTo>
                  <a:pt x="2348903" y="7937079"/>
                </a:lnTo>
                <a:lnTo>
                  <a:pt x="0" y="7937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06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CI/CD Pipeline Automation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1738" y="3117380"/>
            <a:ext cx="8115300" cy="40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CI/CD Automa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tion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Code pushed to GitH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ub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Jenkins r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uns pipeline automatically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Models trained automatically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</a:t>
            </a: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 model saved</a:t>
            </a:r>
          </a:p>
          <a:p>
            <a:pPr algn="l">
              <a:lnSpc>
                <a:spcPts val="2991"/>
              </a:lnSpc>
            </a:pPr>
          </a:p>
          <a:p>
            <a:pPr algn="l" marL="598042" indent="-299021" lvl="1">
              <a:lnSpc>
                <a:spcPts val="2991"/>
              </a:lnSpc>
              <a:buFont typeface="Arial"/>
              <a:buChar char="•"/>
            </a:pPr>
            <a:r>
              <a:rPr lang="en-US" sz="27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Web app uses trained model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76150">
            <a:off x="8420128" y="-6101311"/>
            <a:ext cx="12463164" cy="14003556"/>
          </a:xfrm>
          <a:custGeom>
            <a:avLst/>
            <a:gdLst/>
            <a:ahLst/>
            <a:cxnLst/>
            <a:rect r="r" b="b" t="t" l="l"/>
            <a:pathLst>
              <a:path h="14003556" w="12463164">
                <a:moveTo>
                  <a:pt x="0" y="0"/>
                </a:moveTo>
                <a:lnTo>
                  <a:pt x="12463164" y="0"/>
                </a:lnTo>
                <a:lnTo>
                  <a:pt x="12463164" y="14003556"/>
                </a:lnTo>
                <a:lnTo>
                  <a:pt x="0" y="1400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88043"/>
            <a:ext cx="9530499" cy="6159085"/>
          </a:xfrm>
          <a:custGeom>
            <a:avLst/>
            <a:gdLst/>
            <a:ahLst/>
            <a:cxnLst/>
            <a:rect r="r" b="b" t="t" l="l"/>
            <a:pathLst>
              <a:path h="6159085" w="9530499">
                <a:moveTo>
                  <a:pt x="0" y="0"/>
                </a:moveTo>
                <a:lnTo>
                  <a:pt x="9530499" y="0"/>
                </a:lnTo>
                <a:lnTo>
                  <a:pt x="9530499" y="6159085"/>
                </a:lnTo>
                <a:lnTo>
                  <a:pt x="0" y="6159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GitHub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99181" y="1916618"/>
            <a:ext cx="6260119" cy="252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2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Repository Structure</a:t>
            </a:r>
          </a:p>
          <a:p>
            <a:pPr algn="l">
              <a:lnSpc>
                <a:spcPts val="2483"/>
              </a:lnSpc>
            </a:pP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→ dataset file</a:t>
            </a: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notebooks → EDA analysis</a:t>
            </a: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outputs → generated plots</a:t>
            </a: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templates → web interface</a:t>
            </a: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app.py → Flask backend</a:t>
            </a:r>
          </a:p>
          <a:p>
            <a:pPr algn="l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full_pipeline.py → ML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99181" y="4761545"/>
            <a:ext cx="6260119" cy="346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3"/>
              </a:lnSpc>
            </a:pPr>
            <a:r>
              <a:rPr lang="en-US" sz="22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Version Control System</a:t>
            </a:r>
          </a:p>
          <a:p>
            <a:pPr algn="just">
              <a:lnSpc>
                <a:spcPts val="2483"/>
              </a:lnSpc>
            </a:pPr>
          </a:p>
          <a:p>
            <a:pPr algn="just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hosted on GitHub repository</a:t>
            </a:r>
          </a:p>
          <a:p>
            <a:pPr algn="just">
              <a:lnSpc>
                <a:spcPts val="2483"/>
              </a:lnSpc>
            </a:pPr>
          </a:p>
          <a:p>
            <a:pPr algn="just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All code version controlled</a:t>
            </a:r>
          </a:p>
          <a:p>
            <a:pPr algn="just">
              <a:lnSpc>
                <a:spcPts val="2483"/>
              </a:lnSpc>
            </a:pPr>
          </a:p>
          <a:p>
            <a:pPr algn="just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 and outputs organized</a:t>
            </a:r>
          </a:p>
          <a:p>
            <a:pPr algn="just">
              <a:lnSpc>
                <a:spcPts val="2483"/>
              </a:lnSpc>
            </a:pPr>
          </a:p>
          <a:p>
            <a:pPr algn="just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Supports collaboration</a:t>
            </a:r>
          </a:p>
          <a:p>
            <a:pPr algn="just">
              <a:lnSpc>
                <a:spcPts val="2483"/>
              </a:lnSpc>
            </a:pPr>
          </a:p>
          <a:p>
            <a:pPr algn="just" marL="496569" indent="-248284" lvl="1">
              <a:lnSpc>
                <a:spcPts val="2483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Enables CI/CD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779" y="1971675"/>
            <a:ext cx="16230600" cy="7286625"/>
            <a:chOff x="0" y="0"/>
            <a:chExt cx="4274726" cy="1919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19111"/>
            </a:xfrm>
            <a:custGeom>
              <a:avLst/>
              <a:gdLst/>
              <a:ahLst/>
              <a:cxnLst/>
              <a:rect r="r" b="b" t="t" l="l"/>
              <a:pathLst>
                <a:path h="1919111" w="4274726">
                  <a:moveTo>
                    <a:pt x="7632" y="0"/>
                  </a:moveTo>
                  <a:lnTo>
                    <a:pt x="4267094" y="0"/>
                  </a:lnTo>
                  <a:cubicBezTo>
                    <a:pt x="4271309" y="0"/>
                    <a:pt x="4274726" y="3417"/>
                    <a:pt x="4274726" y="7632"/>
                  </a:cubicBezTo>
                  <a:lnTo>
                    <a:pt x="4274726" y="1911479"/>
                  </a:lnTo>
                  <a:cubicBezTo>
                    <a:pt x="4274726" y="1915694"/>
                    <a:pt x="4271309" y="1919111"/>
                    <a:pt x="4267094" y="1919111"/>
                  </a:cubicBezTo>
                  <a:lnTo>
                    <a:pt x="7632" y="1919111"/>
                  </a:lnTo>
                  <a:cubicBezTo>
                    <a:pt x="3417" y="1919111"/>
                    <a:pt x="0" y="1915694"/>
                    <a:pt x="0" y="1911479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74726" cy="1900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8061" y="900467"/>
            <a:ext cx="1521818" cy="1259909"/>
            <a:chOff x="0" y="0"/>
            <a:chExt cx="400808" cy="3318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08" cy="331828"/>
            </a:xfrm>
            <a:custGeom>
              <a:avLst/>
              <a:gdLst/>
              <a:ahLst/>
              <a:cxnLst/>
              <a:rect r="r" b="b" t="t" l="l"/>
              <a:pathLst>
                <a:path h="331828" w="400808">
                  <a:moveTo>
                    <a:pt x="81397" y="0"/>
                  </a:moveTo>
                  <a:lnTo>
                    <a:pt x="319411" y="0"/>
                  </a:lnTo>
                  <a:cubicBezTo>
                    <a:pt x="340999" y="0"/>
                    <a:pt x="361703" y="8576"/>
                    <a:pt x="376967" y="23840"/>
                  </a:cubicBezTo>
                  <a:cubicBezTo>
                    <a:pt x="392232" y="39105"/>
                    <a:pt x="400808" y="59809"/>
                    <a:pt x="400808" y="81397"/>
                  </a:cubicBezTo>
                  <a:lnTo>
                    <a:pt x="400808" y="250431"/>
                  </a:lnTo>
                  <a:cubicBezTo>
                    <a:pt x="400808" y="272019"/>
                    <a:pt x="392232" y="292723"/>
                    <a:pt x="376967" y="307987"/>
                  </a:cubicBezTo>
                  <a:cubicBezTo>
                    <a:pt x="361703" y="323252"/>
                    <a:pt x="340999" y="331828"/>
                    <a:pt x="319411" y="331828"/>
                  </a:cubicBezTo>
                  <a:lnTo>
                    <a:pt x="81397" y="331828"/>
                  </a:lnTo>
                  <a:cubicBezTo>
                    <a:pt x="36442" y="331828"/>
                    <a:pt x="0" y="295385"/>
                    <a:pt x="0" y="250431"/>
                  </a:cubicBezTo>
                  <a:lnTo>
                    <a:pt x="0" y="81397"/>
                  </a:lnTo>
                  <a:cubicBezTo>
                    <a:pt x="0" y="59809"/>
                    <a:pt x="8576" y="39105"/>
                    <a:pt x="23840" y="23840"/>
                  </a:cubicBezTo>
                  <a:cubicBezTo>
                    <a:pt x="39105" y="8576"/>
                    <a:pt x="59809" y="0"/>
                    <a:pt x="8139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00808" cy="312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97787" y="2466975"/>
            <a:ext cx="7089038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4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</a:t>
            </a:r>
            <a:r>
              <a:rPr lang="en-US" sz="24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oject Achievements</a:t>
            </a:r>
          </a:p>
          <a:p>
            <a:pPr algn="just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Successfully predicted match outcomes using Machine Learning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an end-to-end ML pipeline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Automated training using Jenkins CI/CD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Developed interactive Flask web application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~73% prediction accuracy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140108" y="-19050"/>
            <a:ext cx="1182271" cy="1028700"/>
            <a:chOff x="0" y="0"/>
            <a:chExt cx="311380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380" cy="270933"/>
            </a:xfrm>
            <a:custGeom>
              <a:avLst/>
              <a:gdLst/>
              <a:ahLst/>
              <a:cxnLst/>
              <a:rect r="r" b="b" t="t" l="l"/>
              <a:pathLst>
                <a:path h="270933" w="311380">
                  <a:moveTo>
                    <a:pt x="104774" y="0"/>
                  </a:moveTo>
                  <a:lnTo>
                    <a:pt x="206607" y="0"/>
                  </a:lnTo>
                  <a:cubicBezTo>
                    <a:pt x="264471" y="0"/>
                    <a:pt x="311380" y="46909"/>
                    <a:pt x="311380" y="104774"/>
                  </a:cubicBezTo>
                  <a:lnTo>
                    <a:pt x="311380" y="166160"/>
                  </a:lnTo>
                  <a:cubicBezTo>
                    <a:pt x="311380" y="224025"/>
                    <a:pt x="264471" y="270933"/>
                    <a:pt x="206607" y="270933"/>
                  </a:cubicBezTo>
                  <a:lnTo>
                    <a:pt x="104774" y="270933"/>
                  </a:lnTo>
                  <a:cubicBezTo>
                    <a:pt x="46909" y="270933"/>
                    <a:pt x="0" y="224025"/>
                    <a:pt x="0" y="166160"/>
                  </a:cubicBezTo>
                  <a:lnTo>
                    <a:pt x="0" y="104774"/>
                  </a:lnTo>
                  <a:cubicBezTo>
                    <a:pt x="0" y="46909"/>
                    <a:pt x="46909" y="0"/>
                    <a:pt x="104774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311380" cy="251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57213"/>
            <a:ext cx="17115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&amp; Future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01175" y="2466975"/>
            <a:ext cx="7089038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Futur</a:t>
            </a:r>
            <a:r>
              <a:rPr lang="en-US" sz="24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Improvements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full feature set instead of reduced inputs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 accuracy using advanced models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 system on cloud server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match prediction system</a:t>
            </a:r>
          </a:p>
          <a:p>
            <a:pPr algn="l">
              <a:lnSpc>
                <a:spcPts val="2699"/>
              </a:lnSpc>
            </a:pPr>
          </a:p>
          <a:p>
            <a:pPr algn="l" marL="539749" indent="-269875" lvl="1">
              <a:lnSpc>
                <a:spcPts val="2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 multiple games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4813" y="7275018"/>
            <a:ext cx="531837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9"/>
              </a:lnSpc>
              <a:spcBef>
                <a:spcPct val="0"/>
              </a:spcBef>
            </a:pPr>
            <a:r>
              <a:rPr lang="en-US" sz="7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DAHCQ042veo</dc:identifier>
  <dcterms:modified xsi:type="dcterms:W3CDTF">2011-08-01T06:04:30Z</dcterms:modified>
  <cp:revision>1</cp:revision>
  <dc:title>Black and Blue Modern Startup Pitch Deck</dc:title>
</cp:coreProperties>
</file>